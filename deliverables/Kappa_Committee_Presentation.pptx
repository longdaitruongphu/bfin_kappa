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cfdb643c2f4c9c" /><Relationship Type="http://schemas.openxmlformats.org/officeDocument/2006/relationships/extended-properties" Target="/docProps/app.xml" Id="R8fb679deef154111" /><Relationship Type="http://schemas.openxmlformats.org/officeDocument/2006/relationships/officeDocument" Target="/ppt/presentation.xml" Id="Rd6387c69483642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8fce1e6b7a4841"/>
  </p:sldMasterIdLst>
  <p:notesMasterIdLst>
    <p:notesMasterId xmlns:r="http://schemas.openxmlformats.org/officeDocument/2006/relationships" r:id="R27b5384d578b4664"/>
  </p:notesMasterIdLst>
  <p:sldIdLst>
    <p:sldId xmlns:r="http://schemas.openxmlformats.org/officeDocument/2006/relationships" id="256" r:id="R93b55521c8f64f08"/>
    <p:sldId xmlns:r="http://schemas.openxmlformats.org/officeDocument/2006/relationships" id="257" r:id="Rc56394cc7db342cd"/>
    <p:sldId xmlns:r="http://schemas.openxmlformats.org/officeDocument/2006/relationships" id="258" r:id="Rc8e5802df01149a8"/>
    <p:sldId xmlns:r="http://schemas.openxmlformats.org/officeDocument/2006/relationships" id="259" r:id="R25650a9ff041410c"/>
    <p:sldId xmlns:r="http://schemas.openxmlformats.org/officeDocument/2006/relationships" id="260" r:id="Rd674deba77074b69"/>
    <p:sldId xmlns:r="http://schemas.openxmlformats.org/officeDocument/2006/relationships" id="261" r:id="Raeae8915b0c045ec"/>
    <p:sldId xmlns:r="http://schemas.openxmlformats.org/officeDocument/2006/relationships" id="262" r:id="R5c9f07b4eead482f"/>
    <p:sldId xmlns:r="http://schemas.openxmlformats.org/officeDocument/2006/relationships" id="263" r:id="R8d471d15e9b6491f"/>
    <p:sldId xmlns:r="http://schemas.openxmlformats.org/officeDocument/2006/relationships" id="264" r:id="Rd206b3933a4b4a7b"/>
    <p:sldId xmlns:r="http://schemas.openxmlformats.org/officeDocument/2006/relationships" id="265" r:id="R70395339aa4c4b7f"/>
    <p:sldId xmlns:r="http://schemas.openxmlformats.org/officeDocument/2006/relationships" id="266" r:id="Rd237742b65d04c3f"/>
    <p:sldId xmlns:r="http://schemas.openxmlformats.org/officeDocument/2006/relationships" id="267" r:id="Re70cc48de4664b89"/>
    <p:sldId xmlns:r="http://schemas.openxmlformats.org/officeDocument/2006/relationships" id="268" r:id="R3f322fee7b5c49a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45562979c8e48cd" /><Relationship Type="http://schemas.openxmlformats.org/officeDocument/2006/relationships/slideMaster" Target="/ppt/slideMasters/slideMaster1.xml" Id="R9c8fce1e6b7a4841" /><Relationship Type="http://schemas.openxmlformats.org/officeDocument/2006/relationships/notesMaster" Target="/ppt/notesMasters/notesMaster1.xml" Id="R27b5384d578b4664" /><Relationship Type="http://schemas.openxmlformats.org/officeDocument/2006/relationships/presProps" Target="/ppt/presProps.xml" Id="R70ced13ceb3b4d68" /><Relationship Type="http://schemas.openxmlformats.org/officeDocument/2006/relationships/tableStyles" Target="/ppt/tableStyles.xml" Id="Rb6bd85b215394c2a" /><Relationship Type="http://schemas.openxmlformats.org/officeDocument/2006/relationships/slide" Target="/ppt/slides/slide1.xml" Id="R93b55521c8f64f08" /><Relationship Type="http://schemas.openxmlformats.org/officeDocument/2006/relationships/slide" Target="/ppt/slides/slide2.xml" Id="Rc56394cc7db342cd" /><Relationship Type="http://schemas.openxmlformats.org/officeDocument/2006/relationships/slide" Target="/ppt/slides/slide3.xml" Id="Rc8e5802df01149a8" /><Relationship Type="http://schemas.openxmlformats.org/officeDocument/2006/relationships/slide" Target="/ppt/slides/slide4.xml" Id="R25650a9ff041410c" /><Relationship Type="http://schemas.openxmlformats.org/officeDocument/2006/relationships/slide" Target="/ppt/slides/slide5.xml" Id="Rd674deba77074b69" /><Relationship Type="http://schemas.openxmlformats.org/officeDocument/2006/relationships/slide" Target="/ppt/slides/slide6.xml" Id="Raeae8915b0c045ec" /><Relationship Type="http://schemas.openxmlformats.org/officeDocument/2006/relationships/slide" Target="/ppt/slides/slide7.xml" Id="R5c9f07b4eead482f" /><Relationship Type="http://schemas.openxmlformats.org/officeDocument/2006/relationships/slide" Target="/ppt/slides/slide8.xml" Id="R8d471d15e9b6491f" /><Relationship Type="http://schemas.openxmlformats.org/officeDocument/2006/relationships/slide" Target="/ppt/slides/slide9.xml" Id="Rd206b3933a4b4a7b" /><Relationship Type="http://schemas.openxmlformats.org/officeDocument/2006/relationships/slide" Target="/ppt/slides/slide10.xml" Id="R70395339aa4c4b7f" /><Relationship Type="http://schemas.openxmlformats.org/officeDocument/2006/relationships/slide" Target="/ppt/slides/slide11.xml" Id="Rd237742b65d04c3f" /><Relationship Type="http://schemas.openxmlformats.org/officeDocument/2006/relationships/slide" Target="/ppt/slides/slide12.xml" Id="Re70cc48de4664b89" /><Relationship Type="http://schemas.openxmlformats.org/officeDocument/2006/relationships/slide" Target="/ppt/slides/slide13.xml" Id="R3f322fee7b5c49a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6fd66049afb45d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e9cbb5309b4435" /><Relationship Type="http://schemas.openxmlformats.org/officeDocument/2006/relationships/notesMaster" Target="/ppt/notesMasters/notesMaster1.xml" Id="R0652d0d478c34b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e1c2c1e675405e" /><Relationship Type="http://schemas.openxmlformats.org/officeDocument/2006/relationships/notesMaster" Target="/ppt/notesMasters/notesMaster1.xml" Id="R1c35227d24a944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78ee07d20784d84" /><Relationship Type="http://schemas.openxmlformats.org/officeDocument/2006/relationships/notesMaster" Target="/ppt/notesMasters/notesMaster1.xml" Id="Rd4dbf425d61349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d0e42e5da04192" /><Relationship Type="http://schemas.openxmlformats.org/officeDocument/2006/relationships/notesMaster" Target="/ppt/notesMasters/notesMaster1.xml" Id="R1e37e391f98142e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64856cc60143f5" /><Relationship Type="http://schemas.openxmlformats.org/officeDocument/2006/relationships/notesMaster" Target="/ppt/notesMasters/notesMaster1.xml" Id="R6330b327031546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7f3d90d0a0f4cbe" /><Relationship Type="http://schemas.openxmlformats.org/officeDocument/2006/relationships/notesMaster" Target="/ppt/notesMasters/notesMaster1.xml" Id="R06e45cec9adc49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485b381ff1483b" /><Relationship Type="http://schemas.openxmlformats.org/officeDocument/2006/relationships/notesMaster" Target="/ppt/notesMasters/notesMaster1.xml" Id="R6765a3c890b042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094e95594c34e96" /><Relationship Type="http://schemas.openxmlformats.org/officeDocument/2006/relationships/notesMaster" Target="/ppt/notesMasters/notesMaster1.xml" Id="Rfc5cd9f98c7e4c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c138e681154d06" /><Relationship Type="http://schemas.openxmlformats.org/officeDocument/2006/relationships/notesMaster" Target="/ppt/notesMasters/notesMaster1.xml" Id="R19dcd5680738470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34f5f68ad44a52" /><Relationship Type="http://schemas.openxmlformats.org/officeDocument/2006/relationships/notesMaster" Target="/ppt/notesMasters/notesMaster1.xml" Id="R2fdd88daf3174d2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5d9c7f728c4116" /><Relationship Type="http://schemas.openxmlformats.org/officeDocument/2006/relationships/notesMaster" Target="/ppt/notesMasters/notesMaster1.xml" Id="R7528499dc28642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66440d628e84f6d" /><Relationship Type="http://schemas.openxmlformats.org/officeDocument/2006/relationships/notesMaster" Target="/ppt/notesMasters/notesMaster1.xml" Id="Rb22cbf0a27f34bf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6b560b7e14145f1" /><Relationship Type="http://schemas.openxmlformats.org/officeDocument/2006/relationships/notesMaster" Target="/ppt/notesMasters/notesMaster1.xml" Id="R79095dbb6ade43a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mandate. Case date 31 December 2022. Sources: assignment, initial_allocation.csv, funding_summary.json, mission_simulation.csv. AI-assisted analysis and drafting. Group verification and course-policy confirmation remain required.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initial_allocation.csv. Exact unrounded dollars sum to USD 12m. 5bp bond cost and 10bp equity cost. Fractional holdings. December 2022 close is a paper sizing proxy, not a live executable quote on 31 December.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funding_cashflows.csv and funding_summary.json. Beta face USD 2.4m. Delta face USD 3,478,260.87. Hold bonds to maturity. Cash earns zero. Same-day bond receipts are assumed available before programme disbursement.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bond_metrics.csv, bond_stress.csv, ytm_duration_validation.csv, curve_interpolation_sensitivity.csv. Log-linear discount-factor interpolation bootstraps years 1,2,3,5,8. YTM and continuous-spot risk conventions are checked separately. Steepener: -100bp at year 1 to +100bp at year 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whole_fund_stress.csv and risk_limit_sensitivity.json. Initial wealth denominator USD 12m, before initial costs. Stress is instantaneous, not a historical price series for the fictional bonds.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retrieval_manifest.jsonl, train_data_quality.csv, eval_data_quality.csv, eligibility_checks.json. Official source links: finance.yahoo.com; ranaroussi.github.io/yfinance; mba.tuck.dartmouth.edu/pages/faculty/ken.french/data_library.html.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risk_preference.csv and decision_summary.json. CE = annual expected arithmetic return - A*annual variance/2. Forecast: 4% + beta*4.5%, alpha zero. A applies to the growth sleeve, not directly to a whole-fund loss limit.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portfolio_candidates.csv; single_index_residual_correlation.csv. Same forecasts and constraints. Direct stocks &lt;=10% each, &lt;=30% combined. Minimum 70% combined ETF weight.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factor_regressions.csv and alpha_stability.csv. Training Jan 2015-Dec 2022, 96 observations. HAC confidence intervals, three lags. Annual alpha is monthly intercept times 12. The user confirmed FF3 is allowed in Lecture 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evaluation_wealth.csv, evaluation_performance.csv, evaluation_calendar_years.csv. Weights and December rebalance rule frozen before evaluation retrieval. 10bp entry cost and buy/sell costs. No terminal liquidation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goal_sensitivity.csv, mission_simulation.csv and mission_scenarios.csv. 20,000 paths, fixed seed, circular 12-month blocks of historical log shocks centered to a prospective log-growth approximation. Cash reinvestment zero. Conditional scenario model, not a calibrated probability forecast.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all_bond_alternative.csv, all_bond_cashflows.csv and all_bond_summary.json. Linear programming over case bond cash flows with nonnegative cash each year and zero cash reinvestment. Original payment obligations unchanged.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policy/frozen_policy.json, DECISION_LOG.md, MANDATE_REVISION.md, TEAM_COMPLETION.md. Assignment deadlines in Ho Chi Minh City time. No actual revised mandate is available yet.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4f956dc7324cc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91e9ce8fe4d1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fd4356d5754d7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1a0c1936e7448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6f30ac05924ee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86aa3f88cb432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9B4110-D0ED-4324-8039-877E621931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E552B8F-2CE8-404B-B55C-FC088A63592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331F778-DC8D-4867-A7F6-025CD73C17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7738EF-B15E-4C89-A4AE-A49C1D2109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EC9CDA7-314D-4121-B0C5-4F7BA13288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DD8D678-F48D-4809-86A3-DF591C6F4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7C74F47-4F75-4EDA-9593-0CCC0F7FCE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0B83B40-3EA6-4595-9924-2D2EC0874C5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FDBCBF-14F2-4362-BDC6-91A20266048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6A6F4F-E7A5-4022-BC8F-35BA57D0661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4d618bcada476f" /><Relationship Type="http://schemas.openxmlformats.org/officeDocument/2006/relationships/slideLayout" Target="/ppt/slideLayouts/slideLayout1.xml" Id="R2b043fd1115e475e" /><Relationship Type="http://schemas.openxmlformats.org/officeDocument/2006/relationships/slideLayout" Target="/ppt/slideLayouts/slideLayout2.xml" Id="R48f13acd75174400" /><Relationship Type="http://schemas.openxmlformats.org/officeDocument/2006/relationships/slideLayout" Target="/ppt/slideLayouts/slideLayout3.xml" Id="Rc68222c846364e09" /><Relationship Type="http://schemas.openxmlformats.org/officeDocument/2006/relationships/slideLayout" Target="/ppt/slideLayouts/slideLayout4.xml" Id="R2ddf9d27516e408d" /><Relationship Type="http://schemas.openxmlformats.org/officeDocument/2006/relationships/slideLayout" Target="/ppt/slideLayouts/slideLayout5.xml" Id="R7e971399cef546ac" /><Relationship Type="http://schemas.openxmlformats.org/officeDocument/2006/relationships/slideLayout" Target="/ppt/slideLayouts/slideLayout6.xml" Id="R0d6e840c230a4e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043fd1115e475e"/>
    <p:sldLayoutId xmlns:r="http://schemas.openxmlformats.org/officeDocument/2006/relationships" id="2147483650" r:id="R48f13acd75174400"/>
    <p:sldLayoutId xmlns:r="http://schemas.openxmlformats.org/officeDocument/2006/relationships" id="2147483651" r:id="Rc68222c846364e09"/>
    <p:sldLayoutId xmlns:r="http://schemas.openxmlformats.org/officeDocument/2006/relationships" id="2147483652" r:id="R2ddf9d27516e408d"/>
    <p:sldLayoutId xmlns:r="http://schemas.openxmlformats.org/officeDocument/2006/relationships" id="2147483653" r:id="R7e971399cef546ac"/>
    <p:sldLayoutId xmlns:r="http://schemas.openxmlformats.org/officeDocument/2006/relationships" id="2147483654" r:id="R0d6e840c230a4e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6f5e86ca2b4d4b" /><Relationship Type="http://schemas.openxmlformats.org/officeDocument/2006/relationships/notesSlide" Target="/ppt/notesSlides/notesSlide1.xml" Id="R5a880ac77a9e42a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29d5717868451a" /><Relationship Type="http://schemas.openxmlformats.org/officeDocument/2006/relationships/notesSlide" Target="/ppt/notesSlides/notesSlide2.xml" Id="R92721abf98cf41a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ce52c0fd704957" /><Relationship Type="http://schemas.openxmlformats.org/officeDocument/2006/relationships/notesSlide" Target="/ppt/notesSlides/notesSlide3.xml" Id="R872bb120fb7842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b479b18cea4f00" /><Relationship Type="http://schemas.openxmlformats.org/officeDocument/2006/relationships/notesSlide" Target="/ppt/notesSlides/notesSlide4.xml" Id="R0d6f3d5cecca47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f019ab62844d04" /><Relationship Type="http://schemas.openxmlformats.org/officeDocument/2006/relationships/notesSlide" Target="/ppt/notesSlides/notesSlide5.xml" Id="Rc8924e0549ed466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ff9480543194148" /><Relationship Type="http://schemas.openxmlformats.org/officeDocument/2006/relationships/notesSlide" Target="/ppt/notesSlides/notesSlide6.xml" Id="Rb7c9af4382654d6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a09643b1924987" /><Relationship Type="http://schemas.openxmlformats.org/officeDocument/2006/relationships/chart" Target="/ppt/slides/charts/chart1.xml" Id="R3957566bf4814450" /><Relationship Type="http://schemas.openxmlformats.org/officeDocument/2006/relationships/notesSlide" Target="/ppt/notesSlides/notesSlide7.xml" Id="R8a65c7b6e59d4ad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0a9b19936e4903" /><Relationship Type="http://schemas.openxmlformats.org/officeDocument/2006/relationships/notesSlide" Target="/ppt/notesSlides/notesSlide8.xml" Id="R675fc53965714f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47c5b86d54910" /><Relationship Type="http://schemas.openxmlformats.org/officeDocument/2006/relationships/notesSlide" Target="/ppt/notesSlides/notesSlide9.xml" Id="Rc0c41e10a0de461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a6d9535cf24f37" /><Relationship Type="http://schemas.openxmlformats.org/officeDocument/2006/relationships/chart" Target="/ppt/slides/charts/chart2.xml" Id="R9feafd66554041fd" /><Relationship Type="http://schemas.openxmlformats.org/officeDocument/2006/relationships/notesSlide" Target="/ppt/notesSlides/notesSlide10.xml" Id="R5fc5cc06dddc494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a051a3d4f6a4127" /><Relationship Type="http://schemas.openxmlformats.org/officeDocument/2006/relationships/notesSlide" Target="/ppt/notesSlides/notesSlide11.xml" Id="R86969c3915e247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d419d430384797" /><Relationship Type="http://schemas.openxmlformats.org/officeDocument/2006/relationships/notesSlide" Target="/ppt/notesSlides/notesSlide12.xml" Id="Radc01739e04140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c0c15507204571" /><Relationship Type="http://schemas.openxmlformats.org/officeDocument/2006/relationships/notesSlide" Target="/ppt/notesSlides/notesSlide13.xml" Id="R43713ab735b1412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USMV</c:v>
          </c:tx>
          <c:spPr>
            <a:solidFill xmlns:a="http://schemas.openxmlformats.org/drawingml/2006/main">
              <a:srgbClr val="157C80"/>
            </a:solidFill>
          </c:spPr>
          <c:marker>
            <c:symbol val="none"/>
          </c:marker>
          <c:cat>
            <c:numRef>
              <c:f>'Chart Data'!$A$2:$A$10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'Chart Data'!$B$2:$B$10</c:f>
              <c:numCache>
                <c:formatCode>0%</c:formatCode>
                <c:ptCount val="9"/>
                <c:pt idx="0">
                  <c:v>0.0714251522</c:v>
                </c:pt>
                <c:pt idx="1">
                  <c:v>0.0631810202</c:v>
                </c:pt>
                <c:pt idx="2">
                  <c:v>0.0549368882</c:v>
                </c:pt>
                <c:pt idx="3">
                  <c:v>0.0466927562</c:v>
                </c:pt>
                <c:pt idx="4">
                  <c:v>0.0384486242</c:v>
                </c:pt>
                <c:pt idx="5">
                  <c:v>0.0302044922</c:v>
                </c:pt>
                <c:pt idx="6">
                  <c:v>0.0219603602</c:v>
                </c:pt>
                <c:pt idx="7">
                  <c:v>0.0137162282</c:v>
                </c:pt>
                <c:pt idx="8">
                  <c:v>0.0054720962</c:v>
                </c:pt>
              </c:numCache>
            </c:numRef>
          </c:val>
          <c:smooth val="0"/>
        </c:ser>
        <c:ser>
          <c:idx val="1"/>
          <c:order val="1"/>
          <c:tx>
            <c:v>VTI</c:v>
          </c:tx>
          <c:spPr>
            <a:solidFill xmlns:a="http://schemas.openxmlformats.org/drawingml/2006/main">
              <a:srgbClr val="B65D37"/>
            </a:solidFill>
          </c:spPr>
          <c:marker>
            <c:symbol val="none"/>
          </c:marker>
          <c:cat>
            <c:numRef>
              <c:f>'Chart Data'!$C$2:$C$10</c:f>
              <c:numCache>
                <c:formatCode>General</c:formatCode>
                <c:ptCount val="9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</c:numCache>
            </c:numRef>
          </c:cat>
          <c:val>
            <c:numRef>
              <c:f>'Chart Data'!$D$2:$D$10</c:f>
              <c:numCache>
                <c:formatCode>0%</c:formatCode>
                <c:ptCount val="9"/>
                <c:pt idx="0">
                  <c:v>0.0844697065</c:v>
                </c:pt>
                <c:pt idx="1">
                  <c:v>0.0711701494</c:v>
                </c:pt>
                <c:pt idx="2">
                  <c:v>0.0578705923</c:v>
                </c:pt>
                <c:pt idx="3">
                  <c:v>0.0445710352</c:v>
                </c:pt>
                <c:pt idx="4">
                  <c:v>0.0312714781</c:v>
                </c:pt>
                <c:pt idx="5">
                  <c:v>0.017971921</c:v>
                </c:pt>
                <c:pt idx="6">
                  <c:v>0.0046723639</c:v>
                </c:pt>
                <c:pt idx="7">
                  <c:v>-0.0086271932</c:v>
                </c:pt>
                <c:pt idx="8">
                  <c:v>-0.0219267503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DCE3E7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USMV recommendation</c:v>
          </c:tx>
          <c:spPr>
            <a:solidFill xmlns:a="http://schemas.openxmlformats.org/drawingml/2006/main">
              <a:srgbClr val="157C80"/>
            </a:solidFill>
          </c:spPr>
          <c:marker>
            <c:symbol val="none"/>
          </c:marker>
          <c:cat>
            <c:strRef>
              <c:f>'Chart Data'!$A$2:$A$38</c:f>
              <c:strCache>
                <c:ptCount val="37"/>
                <c:pt idx="0">
                  <c:v>Dec 2022</c:v>
                </c:pt>
                <c:pt idx="1">
                  <c:v>2023-01</c:v>
                </c:pt>
                <c:pt idx="2">
                  <c:v>2023-02</c:v>
                </c:pt>
                <c:pt idx="3">
                  <c:v>2023-03</c:v>
                </c:pt>
                <c:pt idx="4">
                  <c:v>2023-04</c:v>
                </c:pt>
                <c:pt idx="5">
                  <c:v>2023-05</c:v>
                </c:pt>
                <c:pt idx="6">
                  <c:v>2023-06</c:v>
                </c:pt>
                <c:pt idx="7">
                  <c:v>2023-07</c:v>
                </c:pt>
                <c:pt idx="8">
                  <c:v>2023-08</c:v>
                </c:pt>
                <c:pt idx="9">
                  <c:v>2023-09</c:v>
                </c:pt>
                <c:pt idx="10">
                  <c:v>2023-10</c:v>
                </c:pt>
                <c:pt idx="11">
                  <c:v>2023-11</c:v>
                </c:pt>
                <c:pt idx="12">
                  <c:v>2023-12</c:v>
                </c:pt>
                <c:pt idx="13">
                  <c:v>2024-01</c:v>
                </c:pt>
                <c:pt idx="14">
                  <c:v>2024-02</c:v>
                </c:pt>
                <c:pt idx="15">
                  <c:v>2024-03</c:v>
                </c:pt>
                <c:pt idx="16">
                  <c:v>2024-04</c:v>
                </c:pt>
                <c:pt idx="17">
                  <c:v>2024-05</c:v>
                </c:pt>
                <c:pt idx="18">
                  <c:v>2024-06</c:v>
                </c:pt>
                <c:pt idx="19">
                  <c:v>2024-07</c:v>
                </c:pt>
                <c:pt idx="20">
                  <c:v>2024-08</c:v>
                </c:pt>
                <c:pt idx="21">
                  <c:v>2024-09</c:v>
                </c:pt>
                <c:pt idx="22">
                  <c:v>2024-10</c:v>
                </c:pt>
                <c:pt idx="23">
                  <c:v>2024-11</c:v>
                </c:pt>
                <c:pt idx="24">
                  <c:v>2024-12</c:v>
                </c:pt>
                <c:pt idx="25">
                  <c:v>2025-01</c:v>
                </c:pt>
                <c:pt idx="26">
                  <c:v>2025-02</c:v>
                </c:pt>
                <c:pt idx="27">
                  <c:v>2025-03</c:v>
                </c:pt>
                <c:pt idx="28">
                  <c:v>2025-04</c:v>
                </c:pt>
                <c:pt idx="29">
                  <c:v>2025-05</c:v>
                </c:pt>
                <c:pt idx="30">
                  <c:v>2025-06</c:v>
                </c:pt>
                <c:pt idx="31">
                  <c:v>2025-07</c:v>
                </c:pt>
                <c:pt idx="32">
                  <c:v>2025-08</c:v>
                </c:pt>
                <c:pt idx="33">
                  <c:v>2025-09</c:v>
                </c:pt>
                <c:pt idx="34">
                  <c:v>2025-10</c:v>
                </c:pt>
                <c:pt idx="35">
                  <c:v>2025-11</c:v>
                </c:pt>
                <c:pt idx="36">
                  <c:v>2025-12</c:v>
                </c:pt>
              </c:strCache>
            </c:strRef>
          </c:cat>
          <c:val>
            <c:numRef>
              <c:f>'Chart Data'!$B$2:$B$38</c:f>
              <c:numCache>
                <c:formatCode>0.0</c:formatCode>
                <c:ptCount val="37"/>
                <c:pt idx="0">
                  <c:v>1</c:v>
                </c:pt>
                <c:pt idx="1">
                  <c:v>1.0142421063</c:v>
                </c:pt>
                <c:pt idx="2">
                  <c:v>0.9787714288</c:v>
                </c:pt>
                <c:pt idx="3">
                  <c:v>1.0125028967</c:v>
                </c:pt>
                <c:pt idx="4">
                  <c:v>1.0275360905</c:v>
                </c:pt>
                <c:pt idx="5">
                  <c:v>0.9944078979</c:v>
                </c:pt>
                <c:pt idx="6">
                  <c:v>1.0386698656</c:v>
                </c:pt>
                <c:pt idx="7">
                  <c:v>1.0530626767</c:v>
                </c:pt>
                <c:pt idx="8">
                  <c:v>1.0463554695</c:v>
                </c:pt>
                <c:pt idx="9">
                  <c:v>1.0167251493</c:v>
                </c:pt>
                <c:pt idx="10">
                  <c:v>1.0078758368</c:v>
                </c:pt>
                <c:pt idx="11">
                  <c:v>1.0724921902</c:v>
                </c:pt>
                <c:pt idx="12">
                  <c:v>1.1021687259</c:v>
                </c:pt>
                <c:pt idx="13">
                  <c:v>1.1260398751</c:v>
                </c:pt>
                <c:pt idx="14">
                  <c:v>1.1496286712</c:v>
                </c:pt>
                <c:pt idx="15">
                  <c:v>1.1856986884</c:v>
                </c:pt>
                <c:pt idx="16">
                  <c:v>1.1412953756</c:v>
                </c:pt>
                <c:pt idx="17">
                  <c:v>1.1746332809</c:v>
                </c:pt>
                <c:pt idx="18">
                  <c:v>1.195410128</c:v>
                </c:pt>
                <c:pt idx="19">
                  <c:v>1.2392627905</c:v>
                </c:pt>
                <c:pt idx="20">
                  <c:v>1.30020057</c:v>
                </c:pt>
                <c:pt idx="21">
                  <c:v>1.3058832774</c:v>
                </c:pt>
                <c:pt idx="22">
                  <c:v>1.287004864</c:v>
                </c:pt>
                <c:pt idx="23">
                  <c:v>1.3522205571</c:v>
                </c:pt>
                <c:pt idx="24">
                  <c:v>1.2756842029</c:v>
                </c:pt>
                <c:pt idx="25">
                  <c:v>1.3210851409</c:v>
                </c:pt>
                <c:pt idx="26">
                  <c:v>1.3587280594</c:v>
                </c:pt>
                <c:pt idx="27">
                  <c:v>1.3503599053</c:v>
                </c:pt>
                <c:pt idx="28">
                  <c:v>1.3342121421</c:v>
                </c:pt>
                <c:pt idx="29">
                  <c:v>1.3481973348</c:v>
                </c:pt>
                <c:pt idx="30">
                  <c:v>1.3581334424</c:v>
                </c:pt>
                <c:pt idx="31">
                  <c:v>1.339903283</c:v>
                </c:pt>
                <c:pt idx="32">
                  <c:v>1.3637760064</c:v>
                </c:pt>
                <c:pt idx="33">
                  <c:v>1.3818380584</c:v>
                </c:pt>
                <c:pt idx="34">
                  <c:v>1.3533705472</c:v>
                </c:pt>
                <c:pt idx="35">
                  <c:v>1.3845977197</c:v>
                </c:pt>
                <c:pt idx="36">
                  <c:v>1.373270087</c:v>
                </c:pt>
              </c:numCache>
            </c:numRef>
          </c:val>
          <c:smooth val="0"/>
        </c:ser>
        <c:ser>
          <c:idx val="1"/>
          <c:order val="1"/>
          <c:tx>
            <c:v>VTI benchmark</c:v>
          </c:tx>
          <c:spPr>
            <a:solidFill xmlns:a="http://schemas.openxmlformats.org/drawingml/2006/main">
              <a:srgbClr val="B65D37"/>
            </a:solidFill>
          </c:spPr>
          <c:marker>
            <c:symbol val="none"/>
          </c:marker>
          <c:cat>
            <c:strRef>
              <c:f>'Chart Data'!$C$2:$C$38</c:f>
              <c:strCache>
                <c:ptCount val="37"/>
                <c:pt idx="0">
                  <c:v>Dec 2022</c:v>
                </c:pt>
                <c:pt idx="1">
                  <c:v>2023-01</c:v>
                </c:pt>
                <c:pt idx="2">
                  <c:v>2023-02</c:v>
                </c:pt>
                <c:pt idx="3">
                  <c:v>2023-03</c:v>
                </c:pt>
                <c:pt idx="4">
                  <c:v>2023-04</c:v>
                </c:pt>
                <c:pt idx="5">
                  <c:v>2023-05</c:v>
                </c:pt>
                <c:pt idx="6">
                  <c:v>2023-06</c:v>
                </c:pt>
                <c:pt idx="7">
                  <c:v>2023-07</c:v>
                </c:pt>
                <c:pt idx="8">
                  <c:v>2023-08</c:v>
                </c:pt>
                <c:pt idx="9">
                  <c:v>2023-09</c:v>
                </c:pt>
                <c:pt idx="10">
                  <c:v>2023-10</c:v>
                </c:pt>
                <c:pt idx="11">
                  <c:v>2023-11</c:v>
                </c:pt>
                <c:pt idx="12">
                  <c:v>2023-12</c:v>
                </c:pt>
                <c:pt idx="13">
                  <c:v>2024-01</c:v>
                </c:pt>
                <c:pt idx="14">
                  <c:v>2024-02</c:v>
                </c:pt>
                <c:pt idx="15">
                  <c:v>2024-03</c:v>
                </c:pt>
                <c:pt idx="16">
                  <c:v>2024-04</c:v>
                </c:pt>
                <c:pt idx="17">
                  <c:v>2024-05</c:v>
                </c:pt>
                <c:pt idx="18">
                  <c:v>2024-06</c:v>
                </c:pt>
                <c:pt idx="19">
                  <c:v>2024-07</c:v>
                </c:pt>
                <c:pt idx="20">
                  <c:v>2024-08</c:v>
                </c:pt>
                <c:pt idx="21">
                  <c:v>2024-09</c:v>
                </c:pt>
                <c:pt idx="22">
                  <c:v>2024-10</c:v>
                </c:pt>
                <c:pt idx="23">
                  <c:v>2024-11</c:v>
                </c:pt>
                <c:pt idx="24">
                  <c:v>2024-12</c:v>
                </c:pt>
                <c:pt idx="25">
                  <c:v>2025-01</c:v>
                </c:pt>
                <c:pt idx="26">
                  <c:v>2025-02</c:v>
                </c:pt>
                <c:pt idx="27">
                  <c:v>2025-03</c:v>
                </c:pt>
                <c:pt idx="28">
                  <c:v>2025-04</c:v>
                </c:pt>
                <c:pt idx="29">
                  <c:v>2025-05</c:v>
                </c:pt>
                <c:pt idx="30">
                  <c:v>2025-06</c:v>
                </c:pt>
                <c:pt idx="31">
                  <c:v>2025-07</c:v>
                </c:pt>
                <c:pt idx="32">
                  <c:v>2025-08</c:v>
                </c:pt>
                <c:pt idx="33">
                  <c:v>2025-09</c:v>
                </c:pt>
                <c:pt idx="34">
                  <c:v>2025-10</c:v>
                </c:pt>
                <c:pt idx="35">
                  <c:v>2025-11</c:v>
                </c:pt>
                <c:pt idx="36">
                  <c:v>2025-12</c:v>
                </c:pt>
              </c:strCache>
            </c:strRef>
          </c:cat>
          <c:val>
            <c:numRef>
              <c:f>'Chart Data'!$D$2:$D$38</c:f>
              <c:numCache>
                <c:formatCode>0.0</c:formatCode>
                <c:ptCount val="37"/>
                <c:pt idx="0">
                  <c:v>1</c:v>
                </c:pt>
                <c:pt idx="1">
                  <c:v>1.0681822481</c:v>
                </c:pt>
                <c:pt idx="2">
                  <c:v>1.0425265377</c:v>
                </c:pt>
                <c:pt idx="3">
                  <c:v>1.070749051</c:v>
                </c:pt>
                <c:pt idx="4">
                  <c:v>1.0822905718</c:v>
                </c:pt>
                <c:pt idx="5">
                  <c:v>1.0869073981</c:v>
                </c:pt>
                <c:pt idx="6">
                  <c:v>1.160042132</c:v>
                </c:pt>
                <c:pt idx="7">
                  <c:v>1.2025404803</c:v>
                </c:pt>
                <c:pt idx="8">
                  <c:v>1.1793164073</c:v>
                </c:pt>
                <c:pt idx="9">
                  <c:v>1.122696579</c:v>
                </c:pt>
                <c:pt idx="10">
                  <c:v>1.0929920222</c:v>
                </c:pt>
                <c:pt idx="11">
                  <c:v>1.1959010325</c:v>
                </c:pt>
                <c:pt idx="12">
                  <c:v>1.2592105033</c:v>
                </c:pt>
                <c:pt idx="13">
                  <c:v>1.2732772634</c:v>
                </c:pt>
                <c:pt idx="14">
                  <c:v>1.3407444336</c:v>
                </c:pt>
                <c:pt idx="15">
                  <c:v>1.3844486287</c:v>
                </c:pt>
                <c:pt idx="16">
                  <c:v>1.324308549</c:v>
                </c:pt>
                <c:pt idx="17">
                  <c:v>1.3873250635</c:v>
                </c:pt>
                <c:pt idx="18">
                  <c:v>1.4300397771</c:v>
                </c:pt>
                <c:pt idx="19">
                  <c:v>1.4570892922</c:v>
                </c:pt>
                <c:pt idx="20">
                  <c:v>1.4881481851</c:v>
                </c:pt>
                <c:pt idx="21">
                  <c:v>1.5183702755</c:v>
                </c:pt>
                <c:pt idx="22">
                  <c:v>1.5069488366</c:v>
                </c:pt>
                <c:pt idx="23">
                  <c:v>1.6079196932</c:v>
                </c:pt>
                <c:pt idx="24">
                  <c:v>1.5590313625</c:v>
                </c:pt>
                <c:pt idx="25">
                  <c:v>1.606317484</c:v>
                </c:pt>
                <c:pt idx="26">
                  <c:v>1.5759769038</c:v>
                </c:pt>
                <c:pt idx="27">
                  <c:v>1.4836983674</c:v>
                </c:pt>
                <c:pt idx="28">
                  <c:v>1.4727934565</c:v>
                </c:pt>
                <c:pt idx="29">
                  <c:v>1.5648904874</c:v>
                </c:pt>
                <c:pt idx="30">
                  <c:v>1.6456917757</c:v>
                </c:pt>
                <c:pt idx="31">
                  <c:v>1.6833780495</c:v>
                </c:pt>
                <c:pt idx="32">
                  <c:v>1.7229594888</c:v>
                </c:pt>
                <c:pt idx="33">
                  <c:v>1.7818837498</c:v>
                </c:pt>
                <c:pt idx="34">
                  <c:v>1.8212496617</c:v>
                </c:pt>
                <c:pt idx="35">
                  <c:v>1.826082099</c:v>
                </c:pt>
                <c:pt idx="36">
                  <c:v>1.8255989223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Skip val="6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DCE3E7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84595-B14E-40C4-9956-02A9E35E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Kappa Foundation investment policy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0AD86-2370-4A2B-A04E-53EA666F1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4F5511-F350-4766-B8C3-4C7FC06F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10906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Payment bonds plus USMV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79669-5A8F-401E-A9E2-4C6613BF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6700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6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6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Protect the scheduled payments and pursue the 2030 real-value goal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D2E9CD-324A-41A9-BE99-B57EC9D7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8572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USD 5.64m payment bonds</a:t>
            </a:r>
          </a:p>
          <a:p xmlns:a="http://schemas.openxmlformats.org/drawingml/2006/main">
            <a: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USD 6.35m growth allocation</a:t>
            </a:r>
          </a:p>
          <a:p xmlns:a="http://schemas.openxmlformats.org/drawingml/2006/main">
            <a:pPr>
              <a:defRPr sz="2250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USD 9,169 assumed initial costs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2B8F22-A726-467B-BAA3-693867B6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Original case only. The real-value goal and a 15% maximum-loss ceiling are not guaranteed.</a:t>
            </a:r>
          </a:p>
        </p:txBody>
      </p:sp>
    </p:spTree>
    <p:extLst>
      <p:ext uri="{BB962C8B-B14F-4D97-AF65-F5344CB8AC3E}">
        <p14:creationId xmlns:p14="http://schemas.microsoft.com/office/powerpoint/2010/main" val="3859510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B8D456-6A53-400D-8F6A-88D7C6BB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The full USD 12 million allocation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89496B-D882-47F3-8498-B5D48CCF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F876A1-231F-4AC6-89BA-90FAF7F39D7F}"/>
              </a:ext>
            </a:extLst>
          </p:cNvPr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906125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2714625"/>
                <a:gridCol w="6048375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Holding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Initial amount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Beta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$2,214,672.00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USD 2.4m scholarship in 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$3,429,808.70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USD 3.6m learning centre in 2027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USMV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$6,346,350.71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Long-term purchasing power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Costs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$9,168.59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Assumed initial trading costs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$12,000,000.00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100% of initial resources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24C1A4-20D0-4C16-923B-891B1D78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VTI benchmarks the growth sleeve. The full policy reference combines VTI growth with the dedicated payment cash flows.</a:t>
            </a:r>
          </a:p>
        </p:txBody>
      </p:sp>
    </p:spTree>
    <p:extLst>
      <p:ext uri="{BB962C8B-B14F-4D97-AF65-F5344CB8AC3E}">
        <p14:creationId xmlns:p14="http://schemas.microsoft.com/office/powerpoint/2010/main" val="19735139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0A8A5-B644-4454-8410-754EFF93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Contractual cash flows cover both payments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B0EB50-89E5-4A71-A35E-285EDB07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3E5A2-6428-4436-90FE-7E90CDED6404}"/>
              </a:ext>
            </a:extLst>
          </p:cNvPr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906125" cy="3524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47875"/>
                <a:gridCol w="5572125"/>
                <a:gridCol w="3286125"/>
              </a:tblGrid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Date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Payment funding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Surplus retained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2023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No mandatory payment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$121,739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Beta principal pays $2.4m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$121,739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2025 and 2026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No mandatory payment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$243,478 combined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2027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Delta final payment pays $3.6m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$0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2030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Earlier coupons remain in cash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$486,957 total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03F0DD-4B1B-47CB-BC43-F8FD255B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90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No equity sale or positive reinvestment rate is needed to meet the original obligations.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2AC9DC-986C-4ED6-B73F-B10984B1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Amounts rounded. Cash custody and payment settlement still require operational controls.</a:t>
            </a:r>
          </a:p>
        </p:txBody>
      </p:sp>
    </p:spTree>
    <p:extLst>
      <p:ext uri="{BB962C8B-B14F-4D97-AF65-F5344CB8AC3E}">
        <p14:creationId xmlns:p14="http://schemas.microsoft.com/office/powerpoint/2010/main" val="4229240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BB823-EE3C-42DD-980F-1FF14F94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Interest rate shocks change value, not the promised receipts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8DB35-D508-41B8-AE28-9F0B26EA8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CCA3A9-24EE-4129-9023-8110BA82635B}"/>
              </a:ext>
            </a:extLst>
          </p:cNvPr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906125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2095500"/>
                <a:gridCol w="3048000"/>
                <a:gridCol w="3429000"/>
              </a:tblGrid>
              <a:tr h="539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Bond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YTM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Modified duration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+100bp price change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Alpha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4.30%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0.96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-1.00%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Beta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4.10%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1.92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-1.98%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Gamma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3.91%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2.78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-2.84%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Delta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3.81%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4.50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-4.56%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39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Epsilon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3.90%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6.66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-6.66%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4B4840-678F-46CC-96EB-9243EE67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00625"/>
            <a:ext cx="10906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The payment reserve loses about $200,255 after a +100bp curve shift. Its contractual payment coverage stays intact.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079AF9-BF0E-47A4-8955-F9E11119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Parallel and curve-shape stresses are scenarios, not probability forecasts. Exact repricing checks duration and convexity.</a:t>
            </a:r>
          </a:p>
        </p:txBody>
      </p:sp>
    </p:spTree>
    <p:extLst>
      <p:ext uri="{BB962C8B-B14F-4D97-AF65-F5344CB8AC3E}">
        <p14:creationId xmlns:p14="http://schemas.microsoft.com/office/powerpoint/2010/main" val="7776659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6854C-F1B4-4284-ACBC-4EDC60340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A 15% loss ceiling cannot be promised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A9C425-A913-415E-9AE6-6A2B09B7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B5762F-A08D-464E-BD94-07A18BC36972}"/>
              </a:ext>
            </a:extLst>
          </p:cNvPr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10906125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476625"/>
                <a:gridCol w="4286250"/>
              </a:tblGrid>
              <a:tr h="607219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Equity shock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Rate shock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Loss on initial wealth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-20%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+100bp parallel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12.25%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-30%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+100bp parallel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17.53%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-40%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+100bp parallel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22.82%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6B99D-2A3D-40B0-B108-9CA56E59C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A $1.014m switch from equities to cash meets the specific -30% / +100bp stress. It raises the equity growth hurdle to 5.60%.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845FE0-913E-4CD3-BB83-2E75A050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That change does not guarantee a drawdown limit. Equity becomes a larger share of remaining assets after payment bonds mature.</a:t>
            </a:r>
          </a:p>
        </p:txBody>
      </p:sp>
    </p:spTree>
    <p:extLst>
      <p:ext uri="{BB962C8B-B14F-4D97-AF65-F5344CB8AC3E}">
        <p14:creationId xmlns:p14="http://schemas.microsoft.com/office/powerpoint/2010/main" val="7344215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9C842B-A412-4245-8991-87BD0804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The data separate the decision from its later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DD5E8-302F-43C9-8267-DCC4EB59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8AAFBA-C9A3-4E77-972C-2772752FBA35}"/>
              </a:ext>
            </a:extLst>
          </p:cNvPr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10906125" cy="3571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7477125"/>
              </a:tblGrid>
              <a:tr h="59531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Design choice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Implementation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Candidate universe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8 US stocks, 7 sectors, VTI and USMV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Estimation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96 common monthly returns, Jan 2015 to Dec 2022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Evaluation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36 months, Jan 2023 to Dec 2025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Market source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Python yfinance, saved untransformed daily responses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95313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Factor source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Kenneth French FF3 monthly ZIP, original bytes retained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0AA2A2-4AAF-4518-A444-62B89FF5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86375"/>
            <a:ext cx="10906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No invented missing returns. No fictional bond price histories. Current vendor vintages and survivor selection remain limitations.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C6178-B0B0-43C6-AC33-81D89F5E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Dated SEC eligibility evidence is documented. Direct SEC downloads returned 403, so source notes distinguish web verification from saved files.</a:t>
            </a:r>
          </a:p>
        </p:txBody>
      </p:sp>
    </p:spTree>
    <p:extLst>
      <p:ext uri="{BB962C8B-B14F-4D97-AF65-F5344CB8AC3E}">
        <p14:creationId xmlns:p14="http://schemas.microsoft.com/office/powerpoint/2010/main" val="257196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F683AE-CC1C-41BC-A17C-6B75B4D0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USMV is preferred at the assumed risk aversion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6C5FF-C697-455D-A8FD-0B347DA4A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D22F525-9B4F-4688-82AE-FDCDE3B68A97}"/>
              </a:ext>
            </a:extLst>
          </p:cNvPr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6953250" cy="40481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57566bf481445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73ABF8-040F-420E-BC27-6E2A353F4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52625"/>
            <a:ext cx="3238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A = 4</a:t>
            </a:r>
          </a:p>
          <a:p xmlns:a="http://schemas.openxmlformats.org/drawingml/2006/main">
            <a: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USMV CE 3.84%</a:t>
            </a:r>
          </a:p>
          <a:p xmlns:a="http://schemas.openxmlformats.org/drawingml/2006/main">
            <a: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VTI CE 3.13%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57EC34-7901-476B-BCF9-91F4752B2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B65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B65D37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65D37"/>
                </a:solidFill>
                <a:latin typeface="Arial"/>
                <a:ea typeface="Arial"/>
                <a:cs typeface="Arial"/>
              </a:rPr>
              <a:t>The ranking reverses below A = 2.58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A3AE50-B73D-4E7D-B2D6-031744D6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Horizontal axis: risk-aversion A. Vertical axis: annual certainty equivalent. The preference parameter requires trustee agreement.</a:t>
            </a:r>
          </a:p>
        </p:txBody>
      </p:sp>
    </p:spTree>
    <p:extLst>
      <p:ext uri="{BB962C8B-B14F-4D97-AF65-F5344CB8AC3E}">
        <p14:creationId xmlns:p14="http://schemas.microsoft.com/office/powerpoint/2010/main" val="206995350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6B21D-F99C-4374-BC46-34FADB0F7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Covariance assumptions change the optimized holdings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BDDAB6-02FF-4694-A0EE-3BE37699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B802A-FFE8-4EB2-A833-4CEE4D9518EB}"/>
              </a:ext>
            </a:extLst>
          </p:cNvPr>
          <p:cNvGraphicFramePr/>
          <p:nvPr/>
        </p:nvGraphicFramePr>
        <p:xfrm>
          <a:off xmlns:a="http://schemas.openxmlformats.org/drawingml/2006/main" x="619125" y="1666875"/>
          <a:ext xmlns:a="http://schemas.openxmlformats.org/drawingml/2006/main" cx="10906125" cy="1905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1571625"/>
                <a:gridCol w="1571625"/>
                <a:gridCol w="1809750"/>
                <a:gridCol w="2571750"/>
              </a:tblGrid>
              <a:tr h="6350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 = 4 portfolio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VTI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USMV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Direct stocks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Sample volatility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Sample covariance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18.10%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51.90%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30.00%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12.75%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Single-index covariance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11.34%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58.66%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30.00%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12.32%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2227B-50A0-4DB9-8557-FE3840D41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4812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Changing the risk model implies 14.09% one-way turnover. VTI and USMV residual correlation is 0.63, which the single-index model suppresses.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128FCA-1572-4DFC-A588-DC003A24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38750"/>
            <a:ext cx="109061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The sample optimizer adds only about 0.12 percentage points of assumed utility over pure USMV.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6172A-0DA2-4454-A32B-57ED31ED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The preferred policy avoids direct-stock complexity and concentration. Model fit alone does not justify implementation.</a:t>
            </a:r>
          </a:p>
        </p:txBody>
      </p:sp>
    </p:spTree>
    <p:extLst>
      <p:ext uri="{BB962C8B-B14F-4D97-AF65-F5344CB8AC3E}">
        <p14:creationId xmlns:p14="http://schemas.microsoft.com/office/powerpoint/2010/main" val="10155303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844EB-19D7-405A-8B30-147A2EF8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Factor exposure and uncertainty in alpha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0E64A4-446E-4E0E-A13F-EB777802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F09D1A-F410-4FB7-AE5A-1793B49ADB76}"/>
              </a:ext>
            </a:extLst>
          </p:cNvPr>
          <p:cNvGraphicFramePr/>
          <p:nvPr/>
        </p:nvGraphicFramePr>
        <p:xfrm>
          <a:off xmlns:a="http://schemas.openxmlformats.org/drawingml/2006/main" x="619125" y="1428750"/>
          <a:ext xmlns:a="http://schemas.openxmlformats.org/drawingml/2006/main" cx="10906125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76375"/>
                <a:gridCol w="1285875"/>
                <a:gridCol w="2000250"/>
                <a:gridCol w="2000250"/>
                <a:gridCol w="4143375"/>
              </a:tblGrid>
              <a:tr h="4762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Security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Market beta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Annual alpha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95% alpha interval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USMV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CAPM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0.70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2.17%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-1.81% to 6.15%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USMV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FF3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0.74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1.49%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-2.09% to 5.06%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AAPL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CAPM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1.21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12.13%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-1.57% to 25.84%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AAPL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FF3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1.27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11.04%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-1.53% to 23.62%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MSFT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CAPM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0.96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14.47%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4.36% to 24.59%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MSFT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FF3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1.06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12.81%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4.54% to 21.08%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A6D16D-DDA8-4A9E-916F-DB8BE66B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MSFT has positive full-sample alpha. Its early-half interval includes zero, and model and selection uncertainty remain. Forecast alpha stays at zero.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72BF1-0132-4053-9338-18E5E31D2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USMV FF3 beta 0.74 and SMB -0.30 indicate lower market sensitivity and a large-company tilt. Its alpha interval includes zero.</a:t>
            </a:r>
          </a:p>
        </p:txBody>
      </p:sp>
    </p:spTree>
    <p:extLst>
      <p:ext uri="{BB962C8B-B14F-4D97-AF65-F5344CB8AC3E}">
        <p14:creationId xmlns:p14="http://schemas.microsoft.com/office/powerpoint/2010/main" val="5569412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E1F1A-0FAC-43C1-B91B-BC8FC497E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USMV substantially lagged VTI in the frozen evaluation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A8622C-5EE7-416A-84C4-D3379D75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EDA61A6F-B57B-4504-82D1-136BE0824901}"/>
              </a:ext>
            </a:extLst>
          </p:cNvPr>
          <p:cNvGraphicFramePr/>
          <p:nvPr/>
        </p:nvGraphicFramePr>
        <p:xfrm>
          <a:off xmlns:a="http://schemas.openxmlformats.org/drawingml/2006/main" x="619125" y="1476375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eafd66554041fd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5C4BE-1BE1-417B-A553-A4805772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66875"/>
            <a:ext cx="3000375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2023 to 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USMV +37.33%</a:t>
            </a:r>
          </a:p>
          <a:p xmlns:a="http://schemas.openxmlformats.org/drawingml/2006/main">
            <a:pPr>
              <a:defRPr sz="24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VTI +82.56%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B4E386-091A-4645-9EAC-7E113819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91000"/>
            <a:ext cx="3000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1">
                <a:solidFill>
                  <a:srgbClr val="B65D3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B65D37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65D37"/>
                </a:solidFill>
                <a:latin typeface="Arial"/>
                <a:ea typeface="Arial"/>
                <a:cs typeface="Arial"/>
              </a:rPr>
              <a:t>USMV also had the lower evaluation Sharpe ratio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A683B-0A52-4269-832C-284BF38A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Growth of USD 1, net of assumed trading costs. Lower volatility and month-end drawdown came with substantial opportunity cost.</a:t>
            </a:r>
          </a:p>
        </p:txBody>
      </p:sp>
    </p:spTree>
    <p:extLst>
      <p:ext uri="{BB962C8B-B14F-4D97-AF65-F5344CB8AC3E}">
        <p14:creationId xmlns:p14="http://schemas.microsoft.com/office/powerpoint/2010/main" val="145665653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285E8-3707-4287-8457-F9268FCF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The 2030 real-value goal remains uncertain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45949D-7073-4D1F-9352-82D4B5F43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6E791A-9F76-45AE-970E-647F22CC7D51}"/>
              </a:ext>
            </a:extLst>
          </p:cNvPr>
          <p:cNvGraphicFramePr/>
          <p:nvPr/>
        </p:nvGraphicFramePr>
        <p:xfrm>
          <a:off xmlns:a="http://schemas.openxmlformats.org/drawingml/2006/main" x="619125" y="1619250"/>
          <a:ext xmlns:a="http://schemas.openxmlformats.org/drawingml/2006/main" cx="10906125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095875"/>
                <a:gridCol w="2905125"/>
                <a:gridCol w="2905125"/>
              </a:tblGrid>
              <a:tr h="59055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USMV scenario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Base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Higher inflation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Annual inflation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2.5%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4.0%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Required equity CAGR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4.84%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6.45%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Modeled chance of real goal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68.5%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48.1%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Median real 2030 assets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$8.89m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$7.91m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09CF0-03B8-472C-912F-0C0E918A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90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Even in the base scenario, about 31.5% of paths miss the goal. Parameter uncertainty is larger than Monte Carlo sampling noise.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B72579-D414-4ABC-A1BE-B0954415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Forecast equity arithmetic return 7.14%, annual volatility 12.84%. Historical mean returns are not used as forecasts.</a:t>
            </a:r>
          </a:p>
        </p:txBody>
      </p:sp>
    </p:spTree>
    <p:extLst>
      <p:ext uri="{BB962C8B-B14F-4D97-AF65-F5344CB8AC3E}">
        <p14:creationId xmlns:p14="http://schemas.microsoft.com/office/powerpoint/2010/main" val="15216576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81D600-F0F8-496A-99E7-F0229E58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The all-bond alternative makes the compromise explicit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65C2B6-0348-41F7-B50B-413E3062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F7140-FC0F-4C94-885F-39D1B52CD0F4}"/>
              </a:ext>
            </a:extLst>
          </p:cNvPr>
          <p:cNvGraphicFramePr/>
          <p:nvPr/>
        </p:nvGraphicFramePr>
        <p:xfrm>
          <a:off xmlns:a="http://schemas.openxmlformats.org/drawingml/2006/main" x="619125" y="1571625"/>
          <a:ext xmlns:a="http://schemas.openxmlformats.org/drawingml/2006/main" cx="10906125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810250"/>
                <a:gridCol w="5095875"/>
              </a:tblGrid>
              <a:tr h="6096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Outcome under 2.5% inflation</a:t>
                      </a:r>
                    </a:p>
                  </a:txBody>
                  <a:tcPr marL="91440" marR="91440" marT="45720" marB="45720">
                    <a:solidFill>
                      <a:srgbClr val="16384B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USD 12m in dedicated case bonds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$9.102m fixed nominal terminal cash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Implied 2030 purchasing power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$7.471m in December 2022 dollars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Gap from the USD 8m real goal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6.62% lower real target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Extra initial capital to fund the full target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6384B"/>
                          </a:solidFill>
                          <a:latin typeface="Arial"/>
                          <a:ea typeface="Arial"/>
                          <a:cs typeface="Arial"/>
                        </a:rPr>
                        <a:t>$480,443</a:t>
                      </a:r>
                    </a:p>
                  </a:txBody>
                  <a:tcPr marL="91440" marR="91440" marT="45720" marB="45720">
                    <a:solidFill>
                      <a:srgbClr val="F0F4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19C1A1-BB39-435C-AC3F-A24F52559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95875"/>
            <a:ext cx="10906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We recommend payment bonds plus USMV to retain the chance of reaching the full real goal, accepting investment risk and possible shortfall.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6F7190-1F8C-4604-BF11-A52481E3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Nominal cash flows are fixed under case assumptions. Real value depends on inflation and interim bond prices can still fall.</a:t>
            </a:r>
          </a:p>
        </p:txBody>
      </p:sp>
    </p:spTree>
    <p:extLst>
      <p:ext uri="{BB962C8B-B14F-4D97-AF65-F5344CB8AC3E}">
        <p14:creationId xmlns:p14="http://schemas.microsoft.com/office/powerpoint/2010/main" val="7590907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DF594-049F-4562-8727-1E230D2F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1000"/>
            <a:ext cx="10953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Monitoring and the revised mandate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7C829D-1DB6-4324-A0C8-79DD5AF27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00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B88961-A290-497B-B68A-9861A341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24000"/>
            <a:ext cx="495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157C8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57C80"/>
                </a:solidFill>
                <a:latin typeface="Arial"/>
                <a:ea typeface="Arial"/>
                <a:cs typeface="Arial"/>
              </a:rPr>
              <a:t>Quarterly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846B5E-DD99-4726-8DB4-6AF003951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47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Payment coverage and cash custody</a:t>
            </a:r>
          </a:p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Unitized losses excluding programme payments</a:t>
            </a:r>
          </a:p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ETF mandate, concentration and costs</a:t>
            </a:r>
          </a:p>
          <a:p xmlns:a="http://schemas.openxmlformats.org/drawingml/2006/main">
            <a:pPr>
              <a:defRPr sz="2175" b="0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6384B"/>
                </a:solidFill>
                <a:latin typeface="Arial"/>
                <a:ea typeface="Arial"/>
                <a:cs typeface="Arial"/>
              </a:rPr>
              <a:t>Education-cost inflation and goal feasibility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C6588F-FFDB-47F7-AC7B-EAED131C7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67250"/>
            <a:ext cx="10477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22 October: preserve the original decision</a:t>
            </a:r>
          </a:p>
          <a:p xmlns:a="http://schemas.openxmlformats.org/drawingml/2006/main">
            <a:pPr>
              <a:defRPr sz="20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23 October: quantify the actual mandate change</a:t>
            </a:r>
          </a:p>
          <a:p xmlns:a="http://schemas.openxmlformats.org/drawingml/2006/main">
            <a:pPr>
              <a:defRPr sz="2025" b="1">
                <a:solidFill>
                  <a:srgbClr val="16384B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84B"/>
                </a:solidFill>
                <a:latin typeface="Arial"/>
                <a:ea typeface="Arial"/>
                <a:cs typeface="Arial"/>
              </a:rPr>
              <a:t>29 October: submit the final package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8646FE-41EF-480B-808F-BC8CC92E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72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4636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4636F"/>
                </a:solidFill>
                <a:latin typeface="Arial"/>
                <a:ea typeface="Arial"/>
                <a:cs typeface="Arial"/>
              </a:rPr>
              <a:t>AI assistance is disclosed. The group must confirm course policy, add real contributions, and independently check the analysis.</a:t>
            </a:r>
          </a:p>
        </p:txBody>
      </p:sp>
    </p:spTree>
    <p:extLst>
      <p:ext uri="{BB962C8B-B14F-4D97-AF65-F5344CB8AC3E}">
        <p14:creationId xmlns:p14="http://schemas.microsoft.com/office/powerpoint/2010/main" val="18936509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2026-10-15T12:37:26.1330000Z</dcterms:created>
  <dcterms:modified xsi:type="dcterms:W3CDTF">2026-10-15T12:37:26.1330000Z</dcterms:modified>
</coreProperties>
</file>